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363" r:id="rId5"/>
    <p:sldId id="259" r:id="rId6"/>
    <p:sldId id="260" r:id="rId7"/>
    <p:sldId id="359" r:id="rId8"/>
    <p:sldId id="361" r:id="rId9"/>
    <p:sldId id="362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142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19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024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1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690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00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28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45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269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544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 with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BA84AC58-2B59-2E91-1334-9BA6D032EB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Property of Schneider Electric |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C3F9A2F8-5614-8015-A9DD-151AC3B9BD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193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2/14/2026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DF5A73-65EA-4472-0DE3-E4D52DFC05D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92813" y="67030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759152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  <p:sldLayoutId id="2147483752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" name="Rectangle 91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CC099DD-8E7F-4878-A418-76859A85E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DEBDB6E-6E9D-48C5-8C66-EC8D1AC84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4B1C1573-D299-448C-8A04-C9E227046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1D0AE86A-F86F-4CBE-9CAD-B508CD66DF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637F07FB-5D28-409C-BEFF-56E4E0470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1F314C2B-7573-4DB8-AD6D-D07CE831EB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AB0E5B9-7A69-4C8F-832C-385E34CF94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13EE5250-5184-40BF-9DF2-E25C8ED2F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B45F0B04-CD2F-4DFA-BC25-7CD1B4723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9120A221-52E9-45D0-A6EA-2E4B7BA9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EF69602-360C-4C8D-A2EC-558B20F58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C20FAB78-4165-4488-A328-3396610F0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5FECEB49-DD6B-46B0-96F6-9B56A3AA9F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9BB7828-91C2-45AB-B2EB-A77E93E5D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658D9842-FFBE-40DA-AD41-4067978A6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EA9D92EE-93D9-42DE-9645-2C81E20E0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318C150F-1B6F-4BD1-9052-EA20D0294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CCDB6DC-96CE-4D4A-917E-DAC577483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D1C4B445-E267-49A6-AB25-07B182211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658BDCEC-CCF4-470A-A624-152E41F98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55D99E0-6D1B-4979-BC1C-0F54F485A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98BFEC78-630A-4A9D-B4BF-92B08A158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DFC065A-13A3-45D2-ACB7-1068F4A69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D2551881-1E40-4ABC-A1FC-686D1B2D2D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445FBD3-DA73-4FF1-8388-AED59D7678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FB492AB2-E246-471D-A23E-7A279EDAE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A5DDB3BB-3E22-49A4-B920-BBC68FD6D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444814FE-01E1-4C6F-AE3A-46BDA527BB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90DA665-0CFA-4ADB-89FF-9F79AC293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7249E6A0-5BFC-4622-B59D-F5082F67B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3BD83E7E-1DA8-4060-9D1A-803D065427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794C0F59-9A0F-4340-BCD2-20B5BBBE5E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A7050958-138C-4DA8-9DF5-1A9D65C19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133265" y="-2152219"/>
            <a:ext cx="6858000" cy="11162439"/>
          </a:xfrm>
          <a:custGeom>
            <a:avLst/>
            <a:gdLst>
              <a:gd name="connsiteX0" fmla="*/ 6858000 w 6858000"/>
              <a:gd name="connsiteY0" fmla="*/ 0 h 11162439"/>
              <a:gd name="connsiteX1" fmla="*/ 6858000 w 6858000"/>
              <a:gd name="connsiteY1" fmla="*/ 7095240 h 11162439"/>
              <a:gd name="connsiteX2" fmla="*/ 6857998 w 6858000"/>
              <a:gd name="connsiteY2" fmla="*/ 7095240 h 11162439"/>
              <a:gd name="connsiteX3" fmla="*/ 6857998 w 6858000"/>
              <a:gd name="connsiteY3" fmla="*/ 10339528 h 11162439"/>
              <a:gd name="connsiteX4" fmla="*/ 0 w 6858000"/>
              <a:gd name="connsiteY4" fmla="*/ 10925458 h 11162439"/>
              <a:gd name="connsiteX5" fmla="*/ 0 w 6858000"/>
              <a:gd name="connsiteY5" fmla="*/ 7095240 h 11162439"/>
              <a:gd name="connsiteX6" fmla="*/ 0 w 6858000"/>
              <a:gd name="connsiteY6" fmla="*/ 6778313 h 11162439"/>
              <a:gd name="connsiteX7" fmla="*/ 0 w 6858000"/>
              <a:gd name="connsiteY7" fmla="*/ 0 h 11162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11162439">
                <a:moveTo>
                  <a:pt x="6858000" y="0"/>
                </a:moveTo>
                <a:lnTo>
                  <a:pt x="6858000" y="7095240"/>
                </a:lnTo>
                <a:lnTo>
                  <a:pt x="6857998" y="7095240"/>
                </a:lnTo>
                <a:lnTo>
                  <a:pt x="6857998" y="10339528"/>
                </a:lnTo>
                <a:cubicBezTo>
                  <a:pt x="3428999" y="10339528"/>
                  <a:pt x="3428999" y="11696417"/>
                  <a:pt x="0" y="10925458"/>
                </a:cubicBezTo>
                <a:lnTo>
                  <a:pt x="0" y="7095240"/>
                </a:lnTo>
                <a:lnTo>
                  <a:pt x="0" y="67783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computer circuit board with wires and a computer monitor&#10;&#10;AI-generated content may be incorrect.">
            <a:extLst>
              <a:ext uri="{FF2B5EF4-FFF2-40B4-BE49-F238E27FC236}">
                <a16:creationId xmlns:a16="http://schemas.microsoft.com/office/drawing/2014/main" id="{47464A4D-32E1-8AE0-9295-567C40F173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4201" r="4203"/>
          <a:stretch>
            <a:fillRect/>
          </a:stretch>
        </p:blipFill>
        <p:spPr>
          <a:xfrm>
            <a:off x="-18954" y="10"/>
            <a:ext cx="11167367" cy="6857990"/>
          </a:xfrm>
          <a:custGeom>
            <a:avLst/>
            <a:gdLst/>
            <a:ahLst/>
            <a:cxnLst/>
            <a:rect l="l" t="t" r="r" b="b"/>
            <a:pathLst>
              <a:path w="12142767" h="6858000">
                <a:moveTo>
                  <a:pt x="0" y="0"/>
                </a:moveTo>
                <a:lnTo>
                  <a:pt x="11251490" y="0"/>
                </a:lnTo>
                <a:lnTo>
                  <a:pt x="11255634" y="308191"/>
                </a:lnTo>
                <a:cubicBezTo>
                  <a:pt x="11341049" y="3428907"/>
                  <a:pt x="12695043" y="3532715"/>
                  <a:pt x="11886084" y="6854559"/>
                </a:cubicBezTo>
                <a:lnTo>
                  <a:pt x="7539784" y="6854559"/>
                </a:lnTo>
                <a:lnTo>
                  <a:pt x="753978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254C0C-DB9F-F5FB-9C0F-54ADB83B4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0668" y="2080778"/>
            <a:ext cx="3736365" cy="868345"/>
          </a:xfrm>
        </p:spPr>
        <p:txBody>
          <a:bodyPr>
            <a:normAutofit fontScale="90000"/>
          </a:bodyPr>
          <a:lstStyle/>
          <a:p>
            <a:r>
              <a:rPr lang="de-DE" dirty="0">
                <a:solidFill>
                  <a:srgbClr val="FFFFFF"/>
                </a:solidFill>
                <a:latin typeface="Rockwell Condensed" panose="02060603050405020104" pitchFamily="18" charset="0"/>
                <a:cs typeface="Times New Roman" panose="02020603050405020304" pitchFamily="18" charset="0"/>
              </a:rPr>
              <a:t>Career Snapshot</a:t>
            </a:r>
          </a:p>
        </p:txBody>
      </p:sp>
    </p:spTree>
    <p:extLst>
      <p:ext uri="{BB962C8B-B14F-4D97-AF65-F5344CB8AC3E}">
        <p14:creationId xmlns:p14="http://schemas.microsoft.com/office/powerpoint/2010/main" val="1508077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E9B80-14E2-8AF7-5683-3354D5F90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946" y="202109"/>
            <a:ext cx="9231854" cy="628715"/>
          </a:xfrm>
        </p:spPr>
        <p:txBody>
          <a:bodyPr>
            <a:normAutofit fontScale="90000"/>
          </a:bodyPr>
          <a:lstStyle/>
          <a:p>
            <a:pPr algn="ctr"/>
            <a:r>
              <a:rPr lang="de-DE" dirty="0"/>
              <a:t>Who I am &amp; What I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89100-52C3-DB8E-74E1-73C2FF947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439" y="1380067"/>
            <a:ext cx="6899760" cy="4563534"/>
          </a:xfrm>
        </p:spPr>
        <p:txBody>
          <a:bodyPr>
            <a:normAutofit/>
          </a:bodyPr>
          <a:lstStyle/>
          <a:p>
            <a:r>
              <a:rPr lang="de-DE" dirty="0"/>
              <a:t>Master‘s Degree: Hochschule Darmstadt in Electrical Engineering and Informational Technology - International</a:t>
            </a:r>
          </a:p>
          <a:p>
            <a:r>
              <a:rPr lang="de-DE" dirty="0"/>
              <a:t>Specialization: Embedded Systems.</a:t>
            </a:r>
          </a:p>
          <a:p>
            <a:r>
              <a:rPr lang="de-DE" dirty="0"/>
              <a:t>Highly motivated FPGA Development Engineer and Embedded Systems professional with experience in Digital Hardware Design, and Embedded C/C++. </a:t>
            </a:r>
          </a:p>
          <a:p>
            <a:r>
              <a:rPr lang="de-DE" dirty="0"/>
              <a:t>Proficient in VHDL/System Verilog and toolchains like Vivado, Vitis and Intel Quartus Prime.</a:t>
            </a:r>
          </a:p>
          <a:p>
            <a:r>
              <a:rPr lang="de-DE" dirty="0"/>
              <a:t>Experience in designing hardware accelerators and complex communication architectures (AXI, SPI, I²C).</a:t>
            </a:r>
          </a:p>
        </p:txBody>
      </p:sp>
      <p:pic>
        <p:nvPicPr>
          <p:cNvPr id="5" name="Picture 4" descr="A person with a mustache wearing a brown shirt&#10;&#10;AI-generated content may be incorrect.">
            <a:extLst>
              <a:ext uri="{FF2B5EF4-FFF2-40B4-BE49-F238E27FC236}">
                <a16:creationId xmlns:a16="http://schemas.microsoft.com/office/drawing/2014/main" id="{E7EC13C4-69E9-F06C-3C34-7D69F3F68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3546" y="1754334"/>
            <a:ext cx="2560121" cy="334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670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8C681-55BA-F992-DFE9-8BF92D5F4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1599"/>
            <a:ext cx="12192001" cy="50470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FPGA VERIFICATION STRATEGIES FOR SERVO DRIVES USING MPSOC</a:t>
            </a:r>
            <a:endParaRPr lang="de-DE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A7FEA6-3CE1-2BEE-EA75-F1CDFA06A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065" y="966240"/>
            <a:ext cx="8288867" cy="3372275"/>
          </a:xfrm>
          <a:prstGeom prst="rect">
            <a:avLst/>
          </a:prstGeom>
        </p:spPr>
      </p:pic>
      <p:pic>
        <p:nvPicPr>
          <p:cNvPr id="11" name="Content Placeholder 6" descr="A machine with many wires">
            <a:extLst>
              <a:ext uri="{FF2B5EF4-FFF2-40B4-BE49-F238E27FC236}">
                <a16:creationId xmlns:a16="http://schemas.microsoft.com/office/drawing/2014/main" id="{C3008E46-E603-E564-DAAC-C7453A301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1045635" y="2019301"/>
            <a:ext cx="5884335" cy="37930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0EB86E-F4F3-2261-8F20-0684EDAA2846}"/>
              </a:ext>
            </a:extLst>
          </p:cNvPr>
          <p:cNvSpPr txBox="1"/>
          <p:nvPr/>
        </p:nvSpPr>
        <p:spPr>
          <a:xfrm>
            <a:off x="3793065" y="4773613"/>
            <a:ext cx="59266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and Resource – Intensive Verification Process.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Test Coverage.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Physical Hardware and Motors.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Measurement Techniques.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Modular and Isolated FPGA Verification.</a:t>
            </a:r>
          </a:p>
        </p:txBody>
      </p:sp>
    </p:spTree>
    <p:extLst>
      <p:ext uri="{BB962C8B-B14F-4D97-AF65-F5344CB8AC3E}">
        <p14:creationId xmlns:p14="http://schemas.microsoft.com/office/powerpoint/2010/main" val="2898701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DAE06-FA3B-9A95-7A43-0AEA65F2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299317"/>
            <a:ext cx="10325000" cy="654116"/>
          </a:xfrm>
        </p:spPr>
        <p:txBody>
          <a:bodyPr>
            <a:normAutofit fontScale="90000"/>
          </a:bodyPr>
          <a:lstStyle/>
          <a:p>
            <a:pPr algn="ctr"/>
            <a:r>
              <a:rPr lang="de-DE" dirty="0"/>
              <a:t>Block Diagram</a:t>
            </a:r>
          </a:p>
        </p:txBody>
      </p:sp>
      <p:pic>
        <p:nvPicPr>
          <p:cNvPr id="4" name="Content Placeholder 8" descr="A diagram of a computer&#10;&#10;AI-generated content may be incorrect.">
            <a:extLst>
              <a:ext uri="{FF2B5EF4-FFF2-40B4-BE49-F238E27FC236}">
                <a16:creationId xmlns:a16="http://schemas.microsoft.com/office/drawing/2014/main" id="{21B09FF6-990E-8126-7BBA-2AB104ED1A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1901" y="1312863"/>
            <a:ext cx="10008198" cy="479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352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91A4A5-C00F-4B45-9735-FD2841BF3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A16FDB6-C8B8-4BB9-B5F6-C9E7D1549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5D67BC-2831-45D1-804D-2B848B7FF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254059-39EC-48CC-B948-9EE6B0551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F3E0572-7D5E-4FAA-B67C-23A9C6D71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C5F1231-CF22-4258-B764-592B6CB8D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B2C5387-42A2-4464-BF18-E70B0227B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926F39D-AFC8-4FF6-9211-84AA77717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D812696-9AF7-4D2B-A041-80C015F33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E6CB557-1E5B-4D2D-9330-8EB4AF730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03A4B30-3A15-4294-9BED-E7317857F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E7B8343-CDF9-4023-9FBF-F4ADE601B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BB30BD5-639D-4F53-BC6C-2A8D0FFFE5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D7E1947-04B8-4F0B-9E3C-FC4E26D61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3EDB6D6-D309-48D4-87F4-AAED7C57C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F2E163F-B043-43B7-85CE-36F2136B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F6CB03C-E3B1-4D22-ABA3-986CC09FB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9B41E31-EE5F-423F-8B88-3B56009A3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9D4FE6-B271-4427-8273-0B80EF1366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F7D26D0-83A1-41B0-82E3-FB5D3E93E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7E47C02-EBB8-4368-815C-FEDA23368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E61DA55-8618-4048-A65A-41E072D9F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DFC058B-6608-4509-92E1-D4D0D5BD5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E3652A3-36D6-4E0C-B7FB-52CD69E9C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BF82BE6-B2D5-4FA1-98B4-1E0072C39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ECA553C-C7B8-4353-BC4C-D622087D6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F802227-5CA9-40B4-870E-495C7899C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1A19F9E-BB49-4808-8481-77F848C2F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53A57BE-F139-4C31-8201-477E20DD2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9F800EC-2D85-47C7-BFB8-B146DD929C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478BA6D-3F48-40B1-8227-830029B62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21E6C45-0A76-456E-BDD6-3DCB66126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3C541D4F-11C2-4F36-B2A3-AB9028F2A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05909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Content Placeholder 9" descr="A diagram of a diagram&#10;&#10;AI-generated content may be incorrect.">
            <a:extLst>
              <a:ext uri="{FF2B5EF4-FFF2-40B4-BE49-F238E27FC236}">
                <a16:creationId xmlns:a16="http://schemas.microsoft.com/office/drawing/2014/main" id="{82C377A3-43EC-A483-EA73-AC238C95A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0329"/>
            <a:ext cx="6275363" cy="4202209"/>
          </a:xfrm>
          <a:prstGeom prst="rect">
            <a:avLst/>
          </a:prstGeom>
        </p:spPr>
      </p:pic>
      <p:pic>
        <p:nvPicPr>
          <p:cNvPr id="6" name="Content Placeholder 8" descr="A diagram of a diagram">
            <a:extLst>
              <a:ext uri="{FF2B5EF4-FFF2-40B4-BE49-F238E27FC236}">
                <a16:creationId xmlns:a16="http://schemas.microsoft.com/office/drawing/2014/main" id="{171FF24A-625D-67FF-4500-CCA4718869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46331" y="1305729"/>
            <a:ext cx="5939455" cy="4076810"/>
          </a:xfrm>
        </p:spPr>
      </p:pic>
    </p:spTree>
    <p:extLst>
      <p:ext uri="{BB962C8B-B14F-4D97-AF65-F5344CB8AC3E}">
        <p14:creationId xmlns:p14="http://schemas.microsoft.com/office/powerpoint/2010/main" val="1787137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3200812-0628-983D-0045-046AE1DB7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" y="844342"/>
            <a:ext cx="5913119" cy="4783666"/>
          </a:xfrm>
          <a:prstGeom prst="rect">
            <a:avLst/>
          </a:prstGeom>
        </p:spPr>
      </p:pic>
      <p:pic>
        <p:nvPicPr>
          <p:cNvPr id="7" name="Picture 6" descr="A screenshot of a computer code">
            <a:extLst>
              <a:ext uri="{FF2B5EF4-FFF2-40B4-BE49-F238E27FC236}">
                <a16:creationId xmlns:a16="http://schemas.microsoft.com/office/drawing/2014/main" id="{83B6C5E9-D357-CD01-CFCE-1218862B2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398" y="844342"/>
            <a:ext cx="6197602" cy="478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893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7DE145-8824-4CA5-CB2E-A8FAE3502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891E6F06-88F4-1844-2F9C-C04EA99E0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pic>
        <p:nvPicPr>
          <p:cNvPr id="9" name="Picture 8" descr="A computer screen shot of a diagram">
            <a:extLst>
              <a:ext uri="{FF2B5EF4-FFF2-40B4-BE49-F238E27FC236}">
                <a16:creationId xmlns:a16="http://schemas.microsoft.com/office/drawing/2014/main" id="{F20DD13F-C8CD-C922-54E9-F7396C1E0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AA1E66-F17E-4288-FC16-AC2A0BFF6F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Property of Schneider Electric |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70E7C8-3F0C-75C1-30F7-26DBF7CBF3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5A9C12DC-491F-9444-86A2-13AC5C62A2F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018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D6A21-28EA-D5FD-18AB-EE78FA5C2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366" y="294152"/>
            <a:ext cx="11743266" cy="620249"/>
          </a:xfrm>
        </p:spPr>
        <p:txBody>
          <a:bodyPr>
            <a:normAutofit fontScale="90000"/>
          </a:bodyPr>
          <a:lstStyle/>
          <a:p>
            <a:pPr algn="ctr"/>
            <a:r>
              <a:rPr lang="de-DE" dirty="0"/>
              <a:t>Internship at qutools GmbH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4D5E2-F3DD-1FE8-F753-09B1D3C08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833" y="1347291"/>
            <a:ext cx="11218333" cy="4163418"/>
          </a:xfrm>
        </p:spPr>
        <p:txBody>
          <a:bodyPr/>
          <a:lstStyle/>
          <a:p>
            <a:r>
              <a:rPr lang="de-DE" dirty="0"/>
              <a:t>Developed high-speed hardware accelerator in VHDL to verify the Bell‘s inequality experiment, utilising FSM to cordinate complex control flows between actors and event handling.</a:t>
            </a:r>
          </a:p>
          <a:p>
            <a:r>
              <a:rPr lang="en-US" dirty="0"/>
              <a:t>Developed a custom </a:t>
            </a:r>
            <a:r>
              <a:rPr lang="en-US" b="1" dirty="0"/>
              <a:t>Divide Entity</a:t>
            </a:r>
            <a:r>
              <a:rPr lang="en-US" dirty="0"/>
              <a:t> using binary long-division algorithms and fixed-point athematic to perform real-time division of experimental data with configurable bit-widths for high precision.</a:t>
            </a:r>
          </a:p>
          <a:p>
            <a:r>
              <a:rPr lang="en-US" dirty="0"/>
              <a:t>Evaluated multiple RNG techniques, including LFSRs and modulo-based counters, to simulate quantum event ticks at Avalanche Photodiodes (APDs).</a:t>
            </a:r>
          </a:p>
          <a:p>
            <a:r>
              <a:rPr lang="en-US" dirty="0"/>
              <a:t>Built a user-centric GUI using the </a:t>
            </a:r>
            <a:r>
              <a:rPr lang="en-US" b="1" dirty="0" err="1"/>
              <a:t>qudi</a:t>
            </a:r>
            <a:r>
              <a:rPr lang="en-US" b="1" dirty="0"/>
              <a:t> framework</a:t>
            </a:r>
            <a:r>
              <a:rPr lang="en-US" dirty="0"/>
              <a:t> and </a:t>
            </a:r>
            <a:r>
              <a:rPr lang="en-US" b="1" dirty="0"/>
              <a:t>PySide2</a:t>
            </a:r>
            <a:r>
              <a:rPr lang="en-US" dirty="0"/>
              <a:t>, employing a signal-slot mechanism and multithreading to decouple hardware control from the user interface.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21640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303C7-C699-3C74-43B1-CA7A18984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34" y="503136"/>
            <a:ext cx="11802532" cy="631398"/>
          </a:xfrm>
        </p:spPr>
        <p:txBody>
          <a:bodyPr>
            <a:normAutofit/>
          </a:bodyPr>
          <a:lstStyle/>
          <a:p>
            <a:r>
              <a:rPr lang="de-DE" sz="2800" dirty="0"/>
              <a:t>Working Student Experiences at Schneider Electric and qutools GmbH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64D9D-5510-416C-25CB-BE6940E6F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440" y="1600198"/>
            <a:ext cx="11156428" cy="4754665"/>
          </a:xfrm>
        </p:spPr>
        <p:txBody>
          <a:bodyPr/>
          <a:lstStyle/>
          <a:p>
            <a:r>
              <a:rPr lang="de-DE" dirty="0"/>
              <a:t>Designed and Implemented SPI and I2C communication protocols in VHDL.</a:t>
            </a:r>
          </a:p>
          <a:p>
            <a:r>
              <a:rPr lang="en-US" dirty="0"/>
              <a:t>Gained extensive hands-on experience with the </a:t>
            </a:r>
            <a:r>
              <a:rPr lang="en-US" dirty="0" err="1"/>
              <a:t>Enclustra</a:t>
            </a:r>
            <a:r>
              <a:rPr lang="en-US" dirty="0"/>
              <a:t> Mercury XU5-PE1 evaluation board.</a:t>
            </a:r>
          </a:p>
          <a:p>
            <a:r>
              <a:rPr lang="en-US" dirty="0"/>
              <a:t>Designed and implemented a Pulse Sequence Parser in C++, utilizing advanced programming techniques such as recursion, polymorphism, inheritance, object-oriented design, and templates.</a:t>
            </a:r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sz="4400" dirty="0"/>
              <a:t>THANK YOU</a:t>
            </a:r>
            <a:endParaRPr lang="de-DE" sz="4400" dirty="0"/>
          </a:p>
        </p:txBody>
      </p:sp>
    </p:spTree>
    <p:extLst>
      <p:ext uri="{BB962C8B-B14F-4D97-AF65-F5344CB8AC3E}">
        <p14:creationId xmlns:p14="http://schemas.microsoft.com/office/powerpoint/2010/main" val="1511133088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Metadata/LabelInfo.xml><?xml version="1.0" encoding="utf-8"?>
<clbl:labelList xmlns:clbl="http://schemas.microsoft.com/office/2020/mipLabelMetadata">
  <clbl:label id="{23507802-f8e4-4e38-829c-ac8ea9b241e4}" enabled="1" method="Privileged" siteId="{6e51e1ad-c54b-4b39-b598-0ffe9ae68fe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</Words>
  <Application>Microsoft Office PowerPoint</Application>
  <PresentationFormat>Widescreen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Grandview</vt:lpstr>
      <vt:lpstr>Rockwell Condensed</vt:lpstr>
      <vt:lpstr>Times New Roman</vt:lpstr>
      <vt:lpstr>Wingdings</vt:lpstr>
      <vt:lpstr>CosineVTI</vt:lpstr>
      <vt:lpstr>Career Snapshot</vt:lpstr>
      <vt:lpstr>Who I am &amp; What I Do</vt:lpstr>
      <vt:lpstr>RAPID FPGA VERIFICATION STRATEGIES FOR SERVO DRIVES USING MPSOC</vt:lpstr>
      <vt:lpstr>Block Diagram</vt:lpstr>
      <vt:lpstr>PowerPoint Presentation</vt:lpstr>
      <vt:lpstr>PowerPoint Presentation</vt:lpstr>
      <vt:lpstr>PowerPoint Presentation</vt:lpstr>
      <vt:lpstr>Internship at qutools GmbH</vt:lpstr>
      <vt:lpstr>Working Student Experiences at Schneider Electric and qutools GmbH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Suhas Bangalore Mruthunjaya</dc:creator>
  <cp:lastModifiedBy>Suhas Bangalore Mruthunjaya</cp:lastModifiedBy>
  <cp:revision>7</cp:revision>
  <dcterms:created xsi:type="dcterms:W3CDTF">2026-02-14T16:41:54Z</dcterms:created>
  <dcterms:modified xsi:type="dcterms:W3CDTF">2026-02-15T13:22:24Z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CosineVTI:9</vt:lpwstr>
  </property>
  <property fmtid="{D5CDD505-2E9C-101B-9397-08002B2CF9AE}" pid="3" name="ClassificationContentMarkingFooterText">
    <vt:lpwstr>Public</vt:lpwstr>
  </property>
</Properties>
</file>